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59" r:id="rId7"/>
    <p:sldId id="258" r:id="rId8"/>
    <p:sldId id="265" r:id="rId9"/>
    <p:sldId id="260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668303110721708E-2"/>
          <c:y val="0.20625064339418434"/>
          <c:w val="0.87545017224409449"/>
          <c:h val="0.572346534284008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Samsung</c:v>
                </c:pt>
                <c:pt idx="1">
                  <c:v>Apple</c:v>
                </c:pt>
                <c:pt idx="2">
                  <c:v>Motorola</c:v>
                </c:pt>
                <c:pt idx="3">
                  <c:v>oneplus</c:v>
                </c:pt>
                <c:pt idx="4">
                  <c:v>Google</c:v>
                </c:pt>
                <c:pt idx="5">
                  <c:v>Other</c:v>
                </c:pt>
                <c:pt idx="6">
                  <c:v>panasonic</c:v>
                </c:pt>
                <c:pt idx="7">
                  <c:v>At&amp;Amp;T</c:v>
                </c:pt>
                <c:pt idx="8">
                  <c:v>Vtech</c:v>
                </c:pt>
                <c:pt idx="9">
                  <c:v>Nokia</c:v>
                </c:pt>
                <c:pt idx="10">
                  <c:v>Xaiomi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9723</c:v>
                </c:pt>
                <c:pt idx="1">
                  <c:v>3297</c:v>
                </c:pt>
                <c:pt idx="2">
                  <c:v>1611</c:v>
                </c:pt>
                <c:pt idx="3">
                  <c:v>1165</c:v>
                </c:pt>
                <c:pt idx="4">
                  <c:v>1588</c:v>
                </c:pt>
                <c:pt idx="5">
                  <c:v>1095</c:v>
                </c:pt>
                <c:pt idx="6">
                  <c:v>907</c:v>
                </c:pt>
                <c:pt idx="7">
                  <c:v>550</c:v>
                </c:pt>
                <c:pt idx="8">
                  <c:v>399</c:v>
                </c:pt>
                <c:pt idx="9">
                  <c:v>184</c:v>
                </c:pt>
                <c:pt idx="10">
                  <c:v>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47-49E3-AA0A-955A5F3279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Samsung</c:v>
                </c:pt>
                <c:pt idx="1">
                  <c:v>Apple</c:v>
                </c:pt>
                <c:pt idx="2">
                  <c:v>Motorola</c:v>
                </c:pt>
                <c:pt idx="3">
                  <c:v>oneplus</c:v>
                </c:pt>
                <c:pt idx="4">
                  <c:v>Google</c:v>
                </c:pt>
                <c:pt idx="5">
                  <c:v>Other</c:v>
                </c:pt>
                <c:pt idx="6">
                  <c:v>panasonic</c:v>
                </c:pt>
                <c:pt idx="7">
                  <c:v>At&amp;Amp;T</c:v>
                </c:pt>
                <c:pt idx="8">
                  <c:v>Vtech</c:v>
                </c:pt>
                <c:pt idx="9">
                  <c:v>Nokia</c:v>
                </c:pt>
                <c:pt idx="10">
                  <c:v>Xaiomi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44750</c:v>
                </c:pt>
                <c:pt idx="1">
                  <c:v>12950</c:v>
                </c:pt>
                <c:pt idx="2">
                  <c:v>12850</c:v>
                </c:pt>
                <c:pt idx="3">
                  <c:v>2900</c:v>
                </c:pt>
                <c:pt idx="4">
                  <c:v>4300</c:v>
                </c:pt>
                <c:pt idx="5">
                  <c:v>21050</c:v>
                </c:pt>
                <c:pt idx="6">
                  <c:v>11100</c:v>
                </c:pt>
                <c:pt idx="7">
                  <c:v>9800</c:v>
                </c:pt>
                <c:pt idx="8">
                  <c:v>7000</c:v>
                </c:pt>
                <c:pt idx="9">
                  <c:v>3050</c:v>
                </c:pt>
                <c:pt idx="10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47-49E3-AA0A-955A5F3279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avrage price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Samsung</c:v>
                </c:pt>
                <c:pt idx="1">
                  <c:v>Apple</c:v>
                </c:pt>
                <c:pt idx="2">
                  <c:v>Motorola</c:v>
                </c:pt>
                <c:pt idx="3">
                  <c:v>oneplus</c:v>
                </c:pt>
                <c:pt idx="4">
                  <c:v>Google</c:v>
                </c:pt>
                <c:pt idx="5">
                  <c:v>Other</c:v>
                </c:pt>
                <c:pt idx="6">
                  <c:v>panasonic</c:v>
                </c:pt>
                <c:pt idx="7">
                  <c:v>At&amp;Amp;T</c:v>
                </c:pt>
                <c:pt idx="8">
                  <c:v>Vtech</c:v>
                </c:pt>
                <c:pt idx="9">
                  <c:v>Nokia</c:v>
                </c:pt>
                <c:pt idx="10">
                  <c:v>Xaiomi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258.48</c:v>
                </c:pt>
                <c:pt idx="1">
                  <c:v>287.64</c:v>
                </c:pt>
                <c:pt idx="2">
                  <c:v>139.59</c:v>
                </c:pt>
                <c:pt idx="3">
                  <c:v>436.89</c:v>
                </c:pt>
                <c:pt idx="4">
                  <c:v>329.05</c:v>
                </c:pt>
                <c:pt idx="5">
                  <c:v>97.91</c:v>
                </c:pt>
                <c:pt idx="6">
                  <c:v>101.07</c:v>
                </c:pt>
                <c:pt idx="7">
                  <c:v>59.61</c:v>
                </c:pt>
                <c:pt idx="8">
                  <c:v>68.72</c:v>
                </c:pt>
                <c:pt idx="9">
                  <c:v>60.49</c:v>
                </c:pt>
                <c:pt idx="10">
                  <c:v>139.12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47-49E3-AA0A-955A5F3279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250303"/>
        <c:axId val="121251263"/>
      </c:barChart>
      <c:catAx>
        <c:axId val="12125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251263"/>
        <c:crosses val="autoZero"/>
        <c:auto val="1"/>
        <c:lblAlgn val="ctr"/>
        <c:lblOffset val="100"/>
        <c:noMultiLvlLbl val="0"/>
      </c:catAx>
      <c:valAx>
        <c:axId val="121251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25030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Product Classification</a:t>
            </a:r>
            <a:endParaRPr lang="en-US" dirty="0"/>
          </a:p>
        </c:rich>
      </c:tx>
      <c:layout>
        <c:manualLayout>
          <c:xMode val="edge"/>
          <c:yMode val="edge"/>
          <c:x val="0.40341038413799085"/>
          <c:y val="1.05525375452036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54-4F3A-BA0E-86B05D2DD0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54-4F3A-BA0E-86B05D2DD0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054-4F3A-BA0E-86B05D2DD0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054-4F3A-BA0E-86B05D2DD0B0}"/>
              </c:ext>
            </c:extLst>
          </c:dPt>
          <c:cat>
            <c:strRef>
              <c:f>Sheet1!$A$2:$A$5</c:f>
              <c:strCache>
                <c:ptCount val="4"/>
                <c:pt idx="0">
                  <c:v>Other</c:v>
                </c:pt>
                <c:pt idx="1">
                  <c:v>Best Seller</c:v>
                </c:pt>
                <c:pt idx="2">
                  <c:v>Amazon prime</c:v>
                </c:pt>
                <c:pt idx="3">
                  <c:v>Amazon Choice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2</c:v>
                </c:pt>
                <c:pt idx="2">
                  <c:v>227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5E-4CCD-9A84-DE4E26FAAD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B8B2-1AC6-41DE-C74F-CE274177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2F8736-B14D-790E-E9DA-79440EDD4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0CF85-4599-D1F5-7111-308FA45B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08BF3-C691-6E53-66A2-A01465B2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3E70F-6717-363E-CD53-267485BA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00CC-E803-F18D-AD58-6BFC9A9B8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01C5D-4A51-1B75-9393-922E3C293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4FC1A-A2C2-1FFE-8987-224D172B4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372FE-3A7D-C122-E691-09477B55E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8CD07-070E-D183-C662-275A3A4CE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5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06C9-93CF-1FA7-6D63-BDA88617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49790-4FD1-8057-05B4-A26C1AB68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780B3-9B4F-142F-1B7F-A427E298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EC950-D119-6B81-0667-16A22508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EA4DD-7912-F146-9CF9-7654F1A7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6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0C4E-F713-4E0F-B3B1-3E836A55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32ABC-ED05-ACCD-F939-17379987A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F93A6-4A4C-6C6A-9232-BA7907E65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217A5-6AF4-24A7-26D4-239C9CE8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5331A-D888-258A-F03C-5DA4977D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35B43-08C1-277A-53E1-E0BCD16F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0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2D80-94B2-0684-16E2-6ACD78DB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BBF50-5A30-EC25-C4C5-E77D43A46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67FA3-F018-CF42-EED0-545D90B96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B4888E-F37C-77BE-8053-5C1AB862F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329B0-91C7-06E6-B096-9C6A93862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1A3C8-FEBE-1B15-8FDA-463A4B6C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1C741C-1F33-AA4D-33C1-699D58BFB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11CA7-2776-7EEF-E8AD-CAFE65F7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2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2017-9D4C-D9CD-78B7-F5C75E1F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E5906-A52F-E227-A74C-B5809CD1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BE76E-6063-E94F-62D5-B82AE142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10385-757E-6F2B-6A60-123D458B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95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279181-4D51-C4EF-FF0C-098AFF99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9F5072-1562-7838-4C57-2549F667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FD309-C75F-5C34-FFBE-CA9FFB37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9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1013-80FE-17CD-6876-C1F19F0B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E7CCE-6FA9-6166-9E2B-0E7121422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3B3F0-9399-53D0-0601-4555E9DAC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EDAF1-612D-B5C9-57DE-946C9F8F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7D05A-F390-9BFF-BABA-BD4729B8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3FB85-1C7D-F9D6-9D00-52872B38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6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7B61-553B-1ED4-086E-86FD0C99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9FEEE-D047-24EB-30B4-BC524F2F6E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A6AEE-E276-7E49-DA78-24FACE9A6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7D76E-06ED-EB97-00DA-25D5061D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7AED5-B356-3BD0-7D9F-8A6A23822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03E61-10E0-90E7-3797-4E1DF70F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7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CAA5-F6ED-5C4A-4122-F73DFF04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20D94-0566-5284-EA18-0F75B0CE2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AA5F-BDC1-F1CD-06D0-EDA182C3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F6EF3-286A-FEDA-8E36-3F02B423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5D196-ACE6-C34E-0213-7DC7A26B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25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F6628B-0760-DDDE-43FC-7FB17D1B6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449B6-5D60-41FD-FE72-36B9FEA72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F200A-AF0C-D09B-1FA9-EF317EBF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E5A54-56EC-2159-F627-025031C8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6DA43-D23B-2A62-3BD9-982F9735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6B4262-BAB1-A53B-B47F-C0910E53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074EF-EAFE-9FC2-F7CD-2816E57F3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BD803-1FD8-651C-3CCA-82100F6A6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55E01F-4CF6-4CF3-BA1E-95BAC6A39FD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AB911-1684-8FD8-E3B2-F7EF70E2B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707AA-1914-DC56-FC30-0990A7886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AD817-AFAE-443D-A29A-A4890D1D3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0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owerbi.com/links/sALqnwpJcY?ctid=20469899-81d5-4769-9e25-47c0529b5747&amp;pbi_source=linkShare&amp;bookmarkGuid=1154e0a0-d7b1-462d-b4ca-f2f73cef3b86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3987E-EBF8-661E-B067-811730047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2547" y="1041400"/>
            <a:ext cx="9144000" cy="2387600"/>
          </a:xfrm>
        </p:spPr>
        <p:txBody>
          <a:bodyPr/>
          <a:lstStyle/>
          <a:p>
            <a:r>
              <a:rPr lang="en-US" b="1" dirty="0"/>
              <a:t>PHONE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2B406-E1CA-D3FF-F6DA-1EC4EB80D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2547" y="3587750"/>
            <a:ext cx="9144000" cy="1655762"/>
          </a:xfrm>
        </p:spPr>
        <p:txBody>
          <a:bodyPr/>
          <a:lstStyle/>
          <a:p>
            <a:r>
              <a:rPr lang="en-US" dirty="0"/>
              <a:t>Power BI Project</a:t>
            </a:r>
          </a:p>
        </p:txBody>
      </p:sp>
    </p:spTree>
    <p:extLst>
      <p:ext uri="{BB962C8B-B14F-4D97-AF65-F5344CB8AC3E}">
        <p14:creationId xmlns:p14="http://schemas.microsoft.com/office/powerpoint/2010/main" val="3213789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B472-3B42-8BBC-5EA1-54D16E32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65125"/>
            <a:ext cx="11097768" cy="1325563"/>
          </a:xfrm>
        </p:spPr>
        <p:txBody>
          <a:bodyPr/>
          <a:lstStyle/>
          <a:p>
            <a:r>
              <a:rPr lang="en-US" b="1" dirty="0"/>
              <a:t>Step 1 : Problem Definition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10459-806D-72B6-E5CE-5D2A529B3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Objective</a:t>
            </a:r>
            <a:r>
              <a:rPr lang="en-US" i="1" dirty="0"/>
              <a:t>:</a:t>
            </a:r>
            <a:r>
              <a:rPr lang="en-US" dirty="0"/>
              <a:t> Analyze phone sales to support data-driven decisions</a:t>
            </a:r>
            <a:endParaRPr lang="ar-EG" b="1" dirty="0"/>
          </a:p>
          <a:p>
            <a:r>
              <a:rPr lang="en-US" b="1" dirty="0"/>
              <a:t>KPIs :</a:t>
            </a:r>
          </a:p>
          <a:p>
            <a:pPr marL="0" indent="0">
              <a:buNone/>
            </a:pPr>
            <a:r>
              <a:rPr lang="en-US" dirty="0"/>
              <a:t>	Average product price</a:t>
            </a:r>
          </a:p>
          <a:p>
            <a:pPr marL="0" indent="0">
              <a:buNone/>
            </a:pPr>
            <a:r>
              <a:rPr lang="en-US" dirty="0"/>
              <a:t>	Average star rating</a:t>
            </a:r>
          </a:p>
          <a:p>
            <a:pPr marL="0" indent="0">
              <a:buNone/>
            </a:pPr>
            <a:r>
              <a:rPr lang="en-US" dirty="0"/>
              <a:t>	total sales volume</a:t>
            </a:r>
          </a:p>
          <a:p>
            <a:pPr marL="0" indent="0">
              <a:buNone/>
            </a:pPr>
            <a:r>
              <a:rPr lang="en-US" dirty="0"/>
              <a:t>	sales per product</a:t>
            </a:r>
          </a:p>
          <a:p>
            <a:pPr marL="0" indent="0">
              <a:buNone/>
            </a:pPr>
            <a:r>
              <a:rPr lang="en-US" dirty="0"/>
              <a:t>	number of offers</a:t>
            </a:r>
          </a:p>
          <a:p>
            <a:pPr marL="0" indent="0">
              <a:buNone/>
            </a:pPr>
            <a:r>
              <a:rPr lang="en-US" dirty="0"/>
              <a:t>	best sellers count</a:t>
            </a:r>
          </a:p>
          <a:p>
            <a:pPr marL="0" indent="0">
              <a:buNone/>
            </a:pPr>
            <a:r>
              <a:rPr lang="en-US" dirty="0"/>
              <a:t>	count the amazon choice products and compare it with the 	best sellers and other metrics </a:t>
            </a:r>
          </a:p>
          <a:p>
            <a:pPr marL="0" indent="0">
              <a:buNone/>
            </a:pPr>
            <a:r>
              <a:rPr lang="en-US" dirty="0"/>
              <a:t>	diff between product minimum offer and original price 	calculate the percentage of climate friendly products</a:t>
            </a:r>
          </a:p>
        </p:txBody>
      </p:sp>
    </p:spTree>
    <p:extLst>
      <p:ext uri="{BB962C8B-B14F-4D97-AF65-F5344CB8AC3E}">
        <p14:creationId xmlns:p14="http://schemas.microsoft.com/office/powerpoint/2010/main" val="3832121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ED46-4060-21C7-1525-F7664DF4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1325563"/>
          </a:xfrm>
        </p:spPr>
        <p:txBody>
          <a:bodyPr/>
          <a:lstStyle/>
          <a:p>
            <a:r>
              <a:rPr lang="en-US" b="1" dirty="0"/>
              <a:t>Step 2 : Data Collection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0B9AA-B7ED-C785-D44A-B1A685F3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is collected</a:t>
            </a:r>
            <a:br>
              <a:rPr lang="en-US" dirty="0"/>
            </a:br>
            <a:r>
              <a:rPr lang="en-US" dirty="0"/>
              <a:t> from the CSV file provided by AMIT.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C7EE8-2767-2725-DE5F-F1AA3A9C2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050" y="2103621"/>
            <a:ext cx="2819399" cy="379534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11283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89B2-28DD-E542-5F2D-08BAC3250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A83D-96F3-4A9A-C500-3C937482E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1325563"/>
          </a:xfrm>
        </p:spPr>
        <p:txBody>
          <a:bodyPr/>
          <a:lstStyle/>
          <a:p>
            <a:r>
              <a:rPr lang="en-US" b="1" dirty="0"/>
              <a:t>Step 3 : Data Cleaning &amp; Data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BCEE-B5DC-0DB5-64D5-6ABFD79CF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</a:t>
            </a:r>
            <a:br>
              <a:rPr lang="ar-EG" dirty="0"/>
            </a:br>
            <a:r>
              <a:rPr lang="en-US" dirty="0"/>
              <a:t>&amp; duplicate values</a:t>
            </a:r>
            <a:r>
              <a:rPr lang="ar-EG" dirty="0"/>
              <a:t>     </a:t>
            </a:r>
          </a:p>
          <a:p>
            <a:r>
              <a:rPr lang="en-US" dirty="0"/>
              <a:t>Data transformation </a:t>
            </a:r>
            <a:br>
              <a:rPr lang="ar-EG" dirty="0"/>
            </a:br>
            <a:r>
              <a:rPr lang="en-US" dirty="0"/>
              <a:t>using Power Query</a:t>
            </a:r>
            <a:endParaRPr lang="ar-EG" dirty="0"/>
          </a:p>
          <a:p>
            <a:pPr marL="0" indent="0">
              <a:buNone/>
            </a:pPr>
            <a:br>
              <a:rPr lang="ar-EG" dirty="0"/>
            </a:br>
            <a:r>
              <a:rPr lang="ar-EG" dirty="0"/>
              <a:t>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50CF8C-8795-5964-3D61-10DB0972D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15908"/>
            <a:ext cx="2230786" cy="49857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D845C7-D343-2006-DFF0-700C9206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3013" y="1815907"/>
            <a:ext cx="2230787" cy="498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01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CBAA-76A8-6113-3144-EB608732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3D48-46F8-564D-BF1D-15AE36847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1325563"/>
          </a:xfrm>
        </p:spPr>
        <p:txBody>
          <a:bodyPr/>
          <a:lstStyle/>
          <a:p>
            <a:r>
              <a:rPr lang="en-US" b="1" dirty="0"/>
              <a:t>Step 4: Analysis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045E-2E7D-512A-F675-49A548B1E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data analysis process was split into two main stages:</a:t>
            </a:r>
            <a:endParaRPr lang="ar-EG" dirty="0"/>
          </a:p>
          <a:p>
            <a:r>
              <a:rPr lang="en-US" dirty="0"/>
              <a:t> Sales-based Analysis</a:t>
            </a:r>
            <a:endParaRPr lang="ar-EG" dirty="0"/>
          </a:p>
          <a:p>
            <a:r>
              <a:rPr lang="ar-EG" dirty="0"/>
              <a:t> </a:t>
            </a:r>
            <a:r>
              <a:rPr lang="en-US" dirty="0"/>
              <a:t>Product-based Analysis</a:t>
            </a:r>
          </a:p>
        </p:txBody>
      </p:sp>
    </p:spTree>
    <p:extLst>
      <p:ext uri="{BB962C8B-B14F-4D97-AF65-F5344CB8AC3E}">
        <p14:creationId xmlns:p14="http://schemas.microsoft.com/office/powerpoint/2010/main" val="2909018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25F0-8374-7845-7977-6657BD2BF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45" y="365125"/>
            <a:ext cx="10808855" cy="1325563"/>
          </a:xfrm>
        </p:spPr>
        <p:txBody>
          <a:bodyPr/>
          <a:lstStyle/>
          <a:p>
            <a:r>
              <a:rPr lang="en-US" b="1" dirty="0"/>
              <a:t>Sales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3E8E-2848-4A6D-3EFC-574ABECC9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8927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SALES KEYS :-</a:t>
            </a:r>
          </a:p>
          <a:p>
            <a:r>
              <a:rPr lang="en-US" dirty="0"/>
              <a:t>Total Revenue                                                                                                   20.68M</a:t>
            </a:r>
          </a:p>
          <a:p>
            <a:r>
              <a:rPr lang="en-US" dirty="0"/>
              <a:t>Sales Units                                                                                                       130.55K</a:t>
            </a:r>
          </a:p>
          <a:p>
            <a:r>
              <a:rPr lang="en-US" dirty="0"/>
              <a:t>Average Product price                                                                                   171.83</a:t>
            </a:r>
          </a:p>
          <a:p>
            <a:r>
              <a:rPr lang="en-US" dirty="0"/>
              <a:t>diff between product minimum offer and original price                  7.04M</a:t>
            </a:r>
          </a:p>
          <a:p>
            <a:r>
              <a:rPr lang="en-US" dirty="0"/>
              <a:t>Top Performing Manufacturer                                             </a:t>
            </a:r>
            <a:r>
              <a:rPr lang="ar-EG" dirty="0"/>
              <a:t> </a:t>
            </a:r>
            <a:r>
              <a:rPr lang="en-US" dirty="0"/>
              <a:t>                 Samsung</a:t>
            </a:r>
            <a:endParaRPr lang="ar-EG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083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75443F4-6117-6D27-1E79-249617725D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4101502"/>
              </p:ext>
            </p:extLst>
          </p:nvPr>
        </p:nvGraphicFramePr>
        <p:xfrm>
          <a:off x="164123" y="1163782"/>
          <a:ext cx="11840307" cy="5694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1E92C1B-746B-5EA9-BDA8-CD81AEA2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11" y="27940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69114-EAB5-BCEF-4D61-62062E72CE9C}"/>
              </a:ext>
            </a:extLst>
          </p:cNvPr>
          <p:cNvSpPr txBox="1"/>
          <p:nvPr/>
        </p:nvSpPr>
        <p:spPr>
          <a:xfrm>
            <a:off x="500609" y="1515629"/>
            <a:ext cx="1826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TOTAL REVENUE</a:t>
            </a:r>
          </a:p>
          <a:p>
            <a:pPr algn="ctr"/>
            <a:r>
              <a:rPr lang="en-US" dirty="0"/>
              <a:t>20.68M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1D22E-C022-1CF8-1E2D-273D89DE8FB6}"/>
              </a:ext>
            </a:extLst>
          </p:cNvPr>
          <p:cNvSpPr txBox="1"/>
          <p:nvPr/>
        </p:nvSpPr>
        <p:spPr>
          <a:xfrm>
            <a:off x="5340771" y="1515197"/>
            <a:ext cx="1487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SALES UNITS</a:t>
            </a:r>
            <a:br>
              <a:rPr lang="en-US" dirty="0"/>
            </a:br>
            <a:r>
              <a:rPr lang="en-US" dirty="0"/>
              <a:t>130.55K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BF1D8-5F0E-6DBF-2F0A-B9CF6918FD93}"/>
              </a:ext>
            </a:extLst>
          </p:cNvPr>
          <p:cNvSpPr txBox="1"/>
          <p:nvPr/>
        </p:nvSpPr>
        <p:spPr>
          <a:xfrm>
            <a:off x="9840968" y="1515630"/>
            <a:ext cx="1753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AVRAGE PRICE </a:t>
            </a:r>
            <a:br>
              <a:rPr lang="en-US" dirty="0"/>
            </a:br>
            <a:r>
              <a:rPr lang="en-US" dirty="0"/>
              <a:t>171.83</a:t>
            </a:r>
          </a:p>
        </p:txBody>
      </p:sp>
    </p:spTree>
    <p:extLst>
      <p:ext uri="{BB962C8B-B14F-4D97-AF65-F5344CB8AC3E}">
        <p14:creationId xmlns:p14="http://schemas.microsoft.com/office/powerpoint/2010/main" val="435332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6B7E-42BE-BB82-7B42-942319301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C883-D5DD-04C8-99CF-A65D921B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45" y="365125"/>
            <a:ext cx="10808855" cy="1325563"/>
          </a:xfrm>
        </p:spPr>
        <p:txBody>
          <a:bodyPr/>
          <a:lstStyle/>
          <a:p>
            <a:r>
              <a:rPr lang="en-US" b="1" dirty="0"/>
              <a:t>Products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4D2-B537-B939-0B46-F043CEEB6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8927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Products KEYS :-</a:t>
            </a:r>
          </a:p>
          <a:p>
            <a:pPr>
              <a:tabLst>
                <a:tab pos="9372600" algn="l"/>
              </a:tabLst>
            </a:pPr>
            <a:r>
              <a:rPr lang="en-US" dirty="0"/>
              <a:t>Average Rating:                                                                                             4.25/5</a:t>
            </a:r>
          </a:p>
          <a:p>
            <a:r>
              <a:rPr lang="en-US" dirty="0"/>
              <a:t>Number of Raters:                                                                                       870.58K</a:t>
            </a:r>
          </a:p>
          <a:p>
            <a:r>
              <a:rPr lang="en-US" dirty="0"/>
              <a:t>Number of Coupons:                                                                                 22</a:t>
            </a:r>
          </a:p>
          <a:p>
            <a:pPr>
              <a:tabLst>
                <a:tab pos="9372600" algn="l"/>
              </a:tabLst>
            </a:pPr>
            <a:r>
              <a:rPr lang="en-US" dirty="0"/>
              <a:t>Number of Offers:                                                                                       2.628K</a:t>
            </a:r>
          </a:p>
          <a:p>
            <a:pPr>
              <a:tabLst>
                <a:tab pos="9372600" algn="l"/>
              </a:tabLst>
            </a:pPr>
            <a:r>
              <a:rPr lang="en-US" dirty="0"/>
              <a:t>Percentage of Variations:                                                                         29.26%</a:t>
            </a:r>
          </a:p>
          <a:p>
            <a:r>
              <a:rPr lang="en-US" dirty="0"/>
              <a:t>Percentage  Climate Friendly Products:                                            23.15%</a:t>
            </a:r>
          </a:p>
          <a:p>
            <a:r>
              <a:rPr lang="en-US" dirty="0"/>
              <a:t>Percentage of Free Delivery                                                                    99.68%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68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FA6EB-1CC3-3636-332A-8BB86FE48990}"/>
              </a:ext>
            </a:extLst>
          </p:cNvPr>
          <p:cNvSpPr txBox="1"/>
          <p:nvPr/>
        </p:nvSpPr>
        <p:spPr>
          <a:xfrm>
            <a:off x="161925" y="10105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Products</a:t>
            </a:r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78694BB-F409-CE07-4D9A-F46F164480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474790"/>
              </p:ext>
            </p:extLst>
          </p:nvPr>
        </p:nvGraphicFramePr>
        <p:xfrm>
          <a:off x="0" y="719666"/>
          <a:ext cx="12191999" cy="6138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305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7AFFC-EBB9-38E6-821B-EFE828D7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DC6F-8A02-8F18-1354-A8CF7E6E6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45" y="365125"/>
            <a:ext cx="11330302" cy="1325563"/>
          </a:xfrm>
        </p:spPr>
        <p:txBody>
          <a:bodyPr/>
          <a:lstStyle/>
          <a:p>
            <a:r>
              <a:rPr lang="en-US" b="1" dirty="0"/>
              <a:t>Step 5 : </a:t>
            </a:r>
            <a:r>
              <a:rPr lang="en-US" dirty="0"/>
              <a:t>Visualization ,Decision Making</a:t>
            </a:r>
            <a:r>
              <a:rPr lang="en-US" b="1" dirty="0"/>
              <a:t> </a:t>
            </a:r>
            <a:r>
              <a:rPr lang="en-US" dirty="0"/>
              <a:t>&amp; publish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56F02-9716-0A31-F914-11436552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8927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In Power Bi </a:t>
            </a:r>
            <a:br>
              <a:rPr lang="en-US" dirty="0"/>
            </a:br>
            <a:r>
              <a:rPr lang="en-US" dirty="0"/>
              <a:t>the link : </a:t>
            </a:r>
            <a:r>
              <a:rPr lang="en-US" dirty="0">
                <a:hlinkClick r:id="rId2"/>
              </a:rPr>
              <a:t>THE LINK</a:t>
            </a:r>
            <a:endParaRPr lang="ar-EG" dirty="0"/>
          </a:p>
          <a:p>
            <a:r>
              <a:rPr lang="en-US" dirty="0"/>
              <a:t>DECISION	S :</a:t>
            </a:r>
            <a:br>
              <a:rPr lang="en-US" dirty="0"/>
            </a:br>
            <a:r>
              <a:rPr lang="en-US" dirty="0"/>
              <a:t>Focus on high-rated best-selling products</a:t>
            </a:r>
            <a:br>
              <a:rPr lang="en-US" dirty="0"/>
            </a:br>
            <a:r>
              <a:rPr lang="en-US" dirty="0"/>
              <a:t>Expand climate-friendly product portfolio</a:t>
            </a:r>
            <a:br>
              <a:rPr lang="en-US" dirty="0"/>
            </a:br>
            <a:r>
              <a:rPr lang="en-US" dirty="0"/>
              <a:t>Optimize pricing based on offer-price gaps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947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7E70F5F-4DE7-59EB-CCC5-8E159A8F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05082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272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PHONE SEARCH</vt:lpstr>
      <vt:lpstr>Step 1 : Problem Definition &amp; Objectives</vt:lpstr>
      <vt:lpstr>Step 2 : Data Collection</vt:lpstr>
      <vt:lpstr>Step 3 : Data Cleaning &amp; Data Modeling</vt:lpstr>
      <vt:lpstr>Step 4: Analysis Data </vt:lpstr>
      <vt:lpstr>Sales Overview</vt:lpstr>
      <vt:lpstr>SALES</vt:lpstr>
      <vt:lpstr>Products Overview</vt:lpstr>
      <vt:lpstr>PowerPoint Presentation</vt:lpstr>
      <vt:lpstr>Step 5 : Visualization ,Decision Making &amp; publish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Hassan Ramadan Mahmod</dc:creator>
  <cp:lastModifiedBy>Mohammed Hassan</cp:lastModifiedBy>
  <cp:revision>7</cp:revision>
  <dcterms:created xsi:type="dcterms:W3CDTF">2026-02-01T18:09:51Z</dcterms:created>
  <dcterms:modified xsi:type="dcterms:W3CDTF">2026-02-03T14:28:58Z</dcterms:modified>
</cp:coreProperties>
</file>